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0" r:id="rId4"/>
    <p:sldId id="261" r:id="rId5"/>
    <p:sldId id="262" r:id="rId6"/>
    <p:sldId id="258" r:id="rId7"/>
    <p:sldId id="259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0" autoAdjust="0"/>
    <p:restoredTop sz="94660"/>
  </p:normalViewPr>
  <p:slideViewPr>
    <p:cSldViewPr snapToGrid="0">
      <p:cViewPr varScale="1">
        <p:scale>
          <a:sx n="76" d="100"/>
          <a:sy n="76" d="100"/>
        </p:scale>
        <p:origin x="132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3F7A9-CA29-4A48-8234-B85B84DD0957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D015-ECB0-4098-B108-BE9F4EDB1A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4581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3F7A9-CA29-4A48-8234-B85B84DD0957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D015-ECB0-4098-B108-BE9F4EDB1A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4688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3F7A9-CA29-4A48-8234-B85B84DD0957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D015-ECB0-4098-B108-BE9F4EDB1A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9772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3F7A9-CA29-4A48-8234-B85B84DD0957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D015-ECB0-4098-B108-BE9F4EDB1A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3074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3F7A9-CA29-4A48-8234-B85B84DD0957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D015-ECB0-4098-B108-BE9F4EDB1A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1812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3F7A9-CA29-4A48-8234-B85B84DD0957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D015-ECB0-4098-B108-BE9F4EDB1A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310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3F7A9-CA29-4A48-8234-B85B84DD0957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D015-ECB0-4098-B108-BE9F4EDB1A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5018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3F7A9-CA29-4A48-8234-B85B84DD0957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D015-ECB0-4098-B108-BE9F4EDB1A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210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3F7A9-CA29-4A48-8234-B85B84DD0957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D015-ECB0-4098-B108-BE9F4EDB1A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7531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3F7A9-CA29-4A48-8234-B85B84DD0957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D015-ECB0-4098-B108-BE9F4EDB1A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7660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3F7A9-CA29-4A48-8234-B85B84DD0957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D015-ECB0-4098-B108-BE9F4EDB1A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9897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3F7A9-CA29-4A48-8234-B85B84DD0957}" type="datetimeFigureOut">
              <a:rPr kumimoji="1" lang="ja-JP" altLang="en-US" smtClean="0"/>
              <a:t>2025/11/20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AD015-ECB0-4098-B108-BE9F4EDB1A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9023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D5E03F-CCD9-4495-9831-7B1B7C323D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PDF</a:t>
            </a:r>
            <a:r>
              <a:rPr kumimoji="1" lang="ja-JP" altLang="en-US" dirty="0"/>
              <a:t>→</a:t>
            </a:r>
            <a:r>
              <a:rPr kumimoji="1" lang="en-US" altLang="ja-JP" dirty="0"/>
              <a:t>CSV</a:t>
            </a:r>
            <a:r>
              <a:rPr kumimoji="1" lang="ja-JP" altLang="en-US" dirty="0"/>
              <a:t>変換システム</a:t>
            </a:r>
            <a:br>
              <a:rPr kumimoji="1" lang="en-US" altLang="ja-JP" dirty="0"/>
            </a:br>
            <a:r>
              <a:rPr kumimoji="1" lang="ja-JP" altLang="en-US" dirty="0"/>
              <a:t>作成協力依頼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A6FFF16-872E-4E57-97F7-47BE34685F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kumimoji="1" lang="en-US" altLang="ja-JP" dirty="0"/>
              <a:t>2025/11/20</a:t>
            </a:r>
          </a:p>
          <a:p>
            <a:pPr algn="r"/>
            <a:r>
              <a:rPr lang="en-US" altLang="ja-JP" dirty="0"/>
              <a:t>Digital Connect</a:t>
            </a:r>
            <a:r>
              <a:rPr lang="ja-JP" altLang="en-US" dirty="0"/>
              <a:t>室</a:t>
            </a:r>
            <a:endParaRPr lang="en-US" altLang="ja-JP" dirty="0"/>
          </a:p>
          <a:p>
            <a:pPr algn="r"/>
            <a:r>
              <a:rPr lang="ja-JP" altLang="en-US" dirty="0"/>
              <a:t>秋田恭成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8036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71EE97-FC54-45DC-9BAE-6687D9E48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背景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947AE9-D9B1-410E-B96B-D3E6A6471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ja-JP" dirty="0"/>
              <a:t>IoT</a:t>
            </a:r>
            <a:r>
              <a:rPr kumimoji="1" lang="ja-JP" altLang="en-US" dirty="0"/>
              <a:t>展開の中で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/>
              <a:t>[</a:t>
            </a:r>
            <a:r>
              <a:rPr kumimoji="1" lang="ja-JP" altLang="en-US" dirty="0"/>
              <a:t>工場の日報を</a:t>
            </a:r>
            <a:r>
              <a:rPr kumimoji="1" lang="en-US" altLang="ja-JP" dirty="0"/>
              <a:t>DL(PDF)]</a:t>
            </a:r>
            <a:r>
              <a:rPr kumimoji="1" lang="ja-JP" altLang="en-US" dirty="0"/>
              <a:t> → </a:t>
            </a:r>
            <a:r>
              <a:rPr kumimoji="1" lang="en-US" altLang="ja-JP" dirty="0"/>
              <a:t>[</a:t>
            </a:r>
            <a:r>
              <a:rPr lang="en-US" altLang="ja-JP" dirty="0"/>
              <a:t>PDF-</a:t>
            </a:r>
            <a:r>
              <a:rPr kumimoji="1" lang="en-US" altLang="ja-JP" dirty="0"/>
              <a:t>CSV</a:t>
            </a:r>
            <a:r>
              <a:rPr lang="ja-JP" altLang="en-US" dirty="0"/>
              <a:t>変換</a:t>
            </a:r>
            <a:r>
              <a:rPr lang="en-US" altLang="ja-JP" dirty="0"/>
              <a:t>]</a:t>
            </a:r>
          </a:p>
          <a:p>
            <a:pPr marL="0" indent="0">
              <a:buNone/>
            </a:pPr>
            <a:r>
              <a:rPr lang="ja-JP" altLang="en-US" dirty="0"/>
              <a:t> → </a:t>
            </a:r>
            <a:r>
              <a:rPr lang="en-US" altLang="ja-JP" dirty="0"/>
              <a:t>[DB</a:t>
            </a:r>
            <a:r>
              <a:rPr lang="ja-JP" altLang="en-US" dirty="0"/>
              <a:t>インサート</a:t>
            </a:r>
            <a:r>
              <a:rPr lang="en-US" altLang="ja-JP" dirty="0"/>
              <a:t>]</a:t>
            </a:r>
            <a:r>
              <a:rPr lang="ja-JP" altLang="en-US" dirty="0"/>
              <a:t> </a:t>
            </a:r>
            <a:r>
              <a:rPr kumimoji="1" lang="ja-JP" altLang="en-US" dirty="0"/>
              <a:t>→ </a:t>
            </a:r>
            <a:r>
              <a:rPr kumimoji="1" lang="en-US" altLang="ja-JP" dirty="0"/>
              <a:t>[MB</a:t>
            </a:r>
            <a:r>
              <a:rPr kumimoji="1" lang="ja-JP" altLang="en-US" dirty="0"/>
              <a:t>で表示</a:t>
            </a:r>
            <a:r>
              <a:rPr kumimoji="1" lang="en-US" altLang="ja-JP" dirty="0"/>
              <a:t>]</a:t>
            </a:r>
          </a:p>
          <a:p>
            <a:pPr marL="0" indent="0">
              <a:buNone/>
            </a:pPr>
            <a:r>
              <a:rPr kumimoji="1" lang="ja-JP" altLang="en-US" dirty="0"/>
              <a:t>するシステムを検討しています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en-US" altLang="ja-JP" dirty="0"/>
              <a:t>[CSV</a:t>
            </a:r>
            <a:r>
              <a:rPr kumimoji="1" lang="ja-JP" altLang="en-US" dirty="0"/>
              <a:t>変換</a:t>
            </a:r>
            <a:r>
              <a:rPr kumimoji="1" lang="en-US" altLang="ja-JP" dirty="0"/>
              <a:t>]</a:t>
            </a:r>
            <a:r>
              <a:rPr kumimoji="1" lang="ja-JP" altLang="en-US" dirty="0"/>
              <a:t>の検討について協力をお願いします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936745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B982744-8D80-45CE-A113-B1ED7F8F2F17}"/>
              </a:ext>
            </a:extLst>
          </p:cNvPr>
          <p:cNvSpPr txBox="1"/>
          <p:nvPr/>
        </p:nvSpPr>
        <p:spPr>
          <a:xfrm>
            <a:off x="6335930" y="817125"/>
            <a:ext cx="5032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この部分はリュウさんにお願いしてできている</a:t>
            </a:r>
            <a:endParaRPr kumimoji="1" lang="en-US" altLang="ja-JP" dirty="0"/>
          </a:p>
          <a:p>
            <a:r>
              <a:rPr kumimoji="1" lang="ja-JP" altLang="en-US" dirty="0"/>
              <a:t>協力してもらうかは要相談</a:t>
            </a:r>
            <a:endParaRPr kumimoji="1" lang="en-US" altLang="ja-JP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F74363B7-813B-4907-ACFF-201F76694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18762" cy="6858000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D3ECF9D-6E49-42F0-8FB2-E26154CE0D4F}"/>
              </a:ext>
            </a:extLst>
          </p:cNvPr>
          <p:cNvSpPr/>
          <p:nvPr/>
        </p:nvSpPr>
        <p:spPr>
          <a:xfrm>
            <a:off x="78658" y="1179096"/>
            <a:ext cx="5046795" cy="55946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2069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940D37-B449-41F5-B9EC-254774431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CSV</a:t>
            </a:r>
            <a:r>
              <a:rPr kumimoji="1" lang="ja-JP" altLang="en-US" dirty="0"/>
              <a:t>イメージ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BABAAC34-5A8B-43A2-A890-6A5901FF6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190114"/>
              </p:ext>
            </p:extLst>
          </p:nvPr>
        </p:nvGraphicFramePr>
        <p:xfrm>
          <a:off x="2802139" y="1447337"/>
          <a:ext cx="6892103" cy="4332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27663">
                  <a:extLst>
                    <a:ext uri="{9D8B030D-6E8A-4147-A177-3AD203B41FA5}">
                      <a16:colId xmlns:a16="http://schemas.microsoft.com/office/drawing/2014/main" val="703761372"/>
                    </a:ext>
                  </a:extLst>
                </a:gridCol>
                <a:gridCol w="864163">
                  <a:extLst>
                    <a:ext uri="{9D8B030D-6E8A-4147-A177-3AD203B41FA5}">
                      <a16:colId xmlns:a16="http://schemas.microsoft.com/office/drawing/2014/main" val="1154487113"/>
                    </a:ext>
                  </a:extLst>
                </a:gridCol>
                <a:gridCol w="429188">
                  <a:extLst>
                    <a:ext uri="{9D8B030D-6E8A-4147-A177-3AD203B41FA5}">
                      <a16:colId xmlns:a16="http://schemas.microsoft.com/office/drawing/2014/main" val="325864076"/>
                    </a:ext>
                  </a:extLst>
                </a:gridCol>
                <a:gridCol w="733988">
                  <a:extLst>
                    <a:ext uri="{9D8B030D-6E8A-4147-A177-3AD203B41FA5}">
                      <a16:colId xmlns:a16="http://schemas.microsoft.com/office/drawing/2014/main" val="3761646410"/>
                    </a:ext>
                  </a:extLst>
                </a:gridCol>
                <a:gridCol w="1084825">
                  <a:extLst>
                    <a:ext uri="{9D8B030D-6E8A-4147-A177-3AD203B41FA5}">
                      <a16:colId xmlns:a16="http://schemas.microsoft.com/office/drawing/2014/main" val="2348766"/>
                    </a:ext>
                  </a:extLst>
                </a:gridCol>
                <a:gridCol w="1426138">
                  <a:extLst>
                    <a:ext uri="{9D8B030D-6E8A-4147-A177-3AD203B41FA5}">
                      <a16:colId xmlns:a16="http://schemas.microsoft.com/office/drawing/2014/main" val="3526109859"/>
                    </a:ext>
                  </a:extLst>
                </a:gridCol>
                <a:gridCol w="1426138">
                  <a:extLst>
                    <a:ext uri="{9D8B030D-6E8A-4147-A177-3AD203B41FA5}">
                      <a16:colId xmlns:a16="http://schemas.microsoft.com/office/drawing/2014/main" val="1191609296"/>
                    </a:ext>
                  </a:extLst>
                </a:gridCol>
              </a:tblGrid>
              <a:tr h="188600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作業日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設備ユニット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昼夜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社員番号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社員名前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作業時間帯</a:t>
                      </a:r>
                      <a:r>
                        <a:rPr lang="en-US" altLang="zh-TW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lang="zh-TW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入</a:t>
                      </a:r>
                      <a:r>
                        <a:rPr lang="en-US" altLang="zh-TW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作業時間帯</a:t>
                      </a:r>
                      <a:r>
                        <a:rPr lang="en-US" altLang="zh-TW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lang="zh-TW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出</a:t>
                      </a:r>
                      <a:r>
                        <a:rPr lang="en-US" altLang="zh-TW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835631"/>
                  </a:ext>
                </a:extLst>
              </a:tr>
              <a:tr h="1302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101801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桐⼭ 修侑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8:20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8:40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362566079"/>
                  </a:ext>
                </a:extLst>
              </a:tr>
              <a:tr h="1302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101801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桐⼭ 修侑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8:49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8:59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763748042"/>
                  </a:ext>
                </a:extLst>
              </a:tr>
              <a:tr h="1302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106021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⽯塚 雅也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19:05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19:20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566648461"/>
                  </a:ext>
                </a:extLst>
              </a:tr>
              <a:tr h="1886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410490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オカムラ モナリザ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10:27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10:28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828379044"/>
                  </a:ext>
                </a:extLst>
              </a:tr>
              <a:tr h="1886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410490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オカムラ モナリザ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10:48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10:50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649422974"/>
                  </a:ext>
                </a:extLst>
              </a:tr>
              <a:tr h="1886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410490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オカムラ モナリザ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11:00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11:01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787240940"/>
                  </a:ext>
                </a:extLst>
              </a:tr>
              <a:tr h="1886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410490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オカムラ モナリザ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11:06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11:09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709225886"/>
                  </a:ext>
                </a:extLst>
              </a:tr>
              <a:tr h="1886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410490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オカムラ モナリザ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11:12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909383732"/>
                  </a:ext>
                </a:extLst>
              </a:tr>
              <a:tr h="1886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410490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オカムラ モナリザ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11:19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11:21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558126057"/>
                  </a:ext>
                </a:extLst>
              </a:tr>
              <a:tr h="1886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410490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オカムラ モナリザ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11:24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11:27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010145228"/>
                  </a:ext>
                </a:extLst>
              </a:tr>
              <a:tr h="1886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410490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オカムラ モナリザ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11:31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11:34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83352147"/>
                  </a:ext>
                </a:extLst>
              </a:tr>
              <a:tr h="1886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410490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オカムラ モナリザ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11:43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11:46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681617227"/>
                  </a:ext>
                </a:extLst>
              </a:tr>
              <a:tr h="1886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410490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オカムラ モナリザ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11:53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11:55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872439519"/>
                  </a:ext>
                </a:extLst>
              </a:tr>
              <a:tr h="1886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410490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オカムラ モナリザ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13:13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13:17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678171900"/>
                  </a:ext>
                </a:extLst>
              </a:tr>
              <a:tr h="1886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410490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オカムラ モナリザ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13:21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13:25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4034623636"/>
                  </a:ext>
                </a:extLst>
              </a:tr>
              <a:tr h="1886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410490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オカムラ モナリザ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13:34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13:38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8264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6633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940D37-B449-41F5-B9EC-254774431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CSV</a:t>
            </a:r>
            <a:r>
              <a:rPr kumimoji="1" lang="ja-JP" altLang="en-US" dirty="0"/>
              <a:t>イメージ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BABAAC34-5A8B-43A2-A890-6A5901FF6751}"/>
              </a:ext>
            </a:extLst>
          </p:cNvPr>
          <p:cNvGraphicFramePr>
            <a:graphicFrameLocks noGrp="1"/>
          </p:cNvGraphicFramePr>
          <p:nvPr/>
        </p:nvGraphicFramePr>
        <p:xfrm>
          <a:off x="2802139" y="1447337"/>
          <a:ext cx="6892103" cy="4332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27663">
                  <a:extLst>
                    <a:ext uri="{9D8B030D-6E8A-4147-A177-3AD203B41FA5}">
                      <a16:colId xmlns:a16="http://schemas.microsoft.com/office/drawing/2014/main" val="703761372"/>
                    </a:ext>
                  </a:extLst>
                </a:gridCol>
                <a:gridCol w="864163">
                  <a:extLst>
                    <a:ext uri="{9D8B030D-6E8A-4147-A177-3AD203B41FA5}">
                      <a16:colId xmlns:a16="http://schemas.microsoft.com/office/drawing/2014/main" val="1154487113"/>
                    </a:ext>
                  </a:extLst>
                </a:gridCol>
                <a:gridCol w="429188">
                  <a:extLst>
                    <a:ext uri="{9D8B030D-6E8A-4147-A177-3AD203B41FA5}">
                      <a16:colId xmlns:a16="http://schemas.microsoft.com/office/drawing/2014/main" val="325864076"/>
                    </a:ext>
                  </a:extLst>
                </a:gridCol>
                <a:gridCol w="733988">
                  <a:extLst>
                    <a:ext uri="{9D8B030D-6E8A-4147-A177-3AD203B41FA5}">
                      <a16:colId xmlns:a16="http://schemas.microsoft.com/office/drawing/2014/main" val="3761646410"/>
                    </a:ext>
                  </a:extLst>
                </a:gridCol>
                <a:gridCol w="1084825">
                  <a:extLst>
                    <a:ext uri="{9D8B030D-6E8A-4147-A177-3AD203B41FA5}">
                      <a16:colId xmlns:a16="http://schemas.microsoft.com/office/drawing/2014/main" val="2348766"/>
                    </a:ext>
                  </a:extLst>
                </a:gridCol>
                <a:gridCol w="1426138">
                  <a:extLst>
                    <a:ext uri="{9D8B030D-6E8A-4147-A177-3AD203B41FA5}">
                      <a16:colId xmlns:a16="http://schemas.microsoft.com/office/drawing/2014/main" val="3526109859"/>
                    </a:ext>
                  </a:extLst>
                </a:gridCol>
                <a:gridCol w="1426138">
                  <a:extLst>
                    <a:ext uri="{9D8B030D-6E8A-4147-A177-3AD203B41FA5}">
                      <a16:colId xmlns:a16="http://schemas.microsoft.com/office/drawing/2014/main" val="1191609296"/>
                    </a:ext>
                  </a:extLst>
                </a:gridCol>
              </a:tblGrid>
              <a:tr h="188600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作業日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設備ユニット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昼夜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社員番号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社員名前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作業時間帯</a:t>
                      </a:r>
                      <a:r>
                        <a:rPr lang="en-US" altLang="zh-TW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lang="zh-TW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入</a:t>
                      </a:r>
                      <a:r>
                        <a:rPr lang="en-US" altLang="zh-TW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lang="en-US" altLang="zh-TW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作業時間帯</a:t>
                      </a:r>
                      <a:r>
                        <a:rPr lang="en-US" altLang="zh-TW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lang="zh-TW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出</a:t>
                      </a:r>
                      <a:r>
                        <a:rPr lang="en-US" altLang="zh-TW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835631"/>
                  </a:ext>
                </a:extLst>
              </a:tr>
              <a:tr h="1302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101801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桐⼭ 修侑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8:20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8:40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362566079"/>
                  </a:ext>
                </a:extLst>
              </a:tr>
              <a:tr h="1302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101801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桐⼭ 修侑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8:49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8:59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763748042"/>
                  </a:ext>
                </a:extLst>
              </a:tr>
              <a:tr h="13024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106021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⽯塚 雅也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19:05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19:20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566648461"/>
                  </a:ext>
                </a:extLst>
              </a:tr>
              <a:tr h="1886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410490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オカムラ モナリザ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10:27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10:28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828379044"/>
                  </a:ext>
                </a:extLst>
              </a:tr>
              <a:tr h="1886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410490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オカムラ モナリザ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10:48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10:50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649422974"/>
                  </a:ext>
                </a:extLst>
              </a:tr>
              <a:tr h="1886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410490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オカムラ モナリザ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11:00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11:01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787240940"/>
                  </a:ext>
                </a:extLst>
              </a:tr>
              <a:tr h="1886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410490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オカムラ モナリザ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11:06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11:09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709225886"/>
                  </a:ext>
                </a:extLst>
              </a:tr>
              <a:tr h="1886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410490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オカムラ モナリザ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11:12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909383732"/>
                  </a:ext>
                </a:extLst>
              </a:tr>
              <a:tr h="1886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410490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オカムラ モナリザ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11:19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11:21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558126057"/>
                  </a:ext>
                </a:extLst>
              </a:tr>
              <a:tr h="1886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410490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オカムラ モナリザ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11:24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11:27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010145228"/>
                  </a:ext>
                </a:extLst>
              </a:tr>
              <a:tr h="1886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410490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オカムラ モナリザ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11:31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11:34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83352147"/>
                  </a:ext>
                </a:extLst>
              </a:tr>
              <a:tr h="1886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410490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オカムラ モナリザ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11:43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11:46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681617227"/>
                  </a:ext>
                </a:extLst>
              </a:tr>
              <a:tr h="1886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410490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オカムラ モナリザ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11:53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11:55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872439519"/>
                  </a:ext>
                </a:extLst>
              </a:tr>
              <a:tr h="1886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410490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オカムラ モナリザ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13:13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13:17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678171900"/>
                  </a:ext>
                </a:extLst>
              </a:tr>
              <a:tr h="1886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410490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オカムラ モナリザ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13:21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13:25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4034623636"/>
                  </a:ext>
                </a:extLst>
              </a:tr>
              <a:tr h="1886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410490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b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オカムラ モナリザ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13:34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b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 13:38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8264710"/>
                  </a:ext>
                </a:extLst>
              </a:tr>
            </a:tbl>
          </a:graphicData>
        </a:graphic>
      </p:graphicFrame>
      <p:sp>
        <p:nvSpPr>
          <p:cNvPr id="5" name="左中かっこ 4">
            <a:extLst>
              <a:ext uri="{FF2B5EF4-FFF2-40B4-BE49-F238E27FC236}">
                <a16:creationId xmlns:a16="http://schemas.microsoft.com/office/drawing/2014/main" id="{293151AE-C0F4-4B24-928B-B7C28F76F214}"/>
              </a:ext>
            </a:extLst>
          </p:cNvPr>
          <p:cNvSpPr/>
          <p:nvPr/>
        </p:nvSpPr>
        <p:spPr>
          <a:xfrm rot="16200000">
            <a:off x="3790844" y="4861489"/>
            <a:ext cx="225071" cy="220248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左中かっこ 5">
            <a:extLst>
              <a:ext uri="{FF2B5EF4-FFF2-40B4-BE49-F238E27FC236}">
                <a16:creationId xmlns:a16="http://schemas.microsoft.com/office/drawing/2014/main" id="{DCFD22F0-35A3-436B-ABD1-69C0C0B3B53D}"/>
              </a:ext>
            </a:extLst>
          </p:cNvPr>
          <p:cNvSpPr/>
          <p:nvPr/>
        </p:nvSpPr>
        <p:spPr>
          <a:xfrm rot="16200000">
            <a:off x="7261886" y="3642906"/>
            <a:ext cx="225071" cy="463964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2FBC08A-9DFB-4634-AB36-3BE22FFD23CC}"/>
              </a:ext>
            </a:extLst>
          </p:cNvPr>
          <p:cNvSpPr txBox="1"/>
          <p:nvPr/>
        </p:nvSpPr>
        <p:spPr>
          <a:xfrm>
            <a:off x="3097709" y="6075263"/>
            <a:ext cx="1611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File name</a:t>
            </a:r>
            <a:r>
              <a:rPr kumimoji="1" lang="ja-JP" altLang="en-US" dirty="0"/>
              <a:t> から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F187596-46EA-4CAF-8DED-B1E7587322BA}"/>
              </a:ext>
            </a:extLst>
          </p:cNvPr>
          <p:cNvSpPr txBox="1"/>
          <p:nvPr/>
        </p:nvSpPr>
        <p:spPr>
          <a:xfrm>
            <a:off x="6617963" y="6145157"/>
            <a:ext cx="1540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Contents</a:t>
            </a:r>
            <a:r>
              <a:rPr kumimoji="1" lang="ja-JP" altLang="en-US" dirty="0"/>
              <a:t> から</a:t>
            </a:r>
          </a:p>
        </p:txBody>
      </p:sp>
      <p:sp>
        <p:nvSpPr>
          <p:cNvPr id="9" name="吹き出し: 四角形 8">
            <a:extLst>
              <a:ext uri="{FF2B5EF4-FFF2-40B4-BE49-F238E27FC236}">
                <a16:creationId xmlns:a16="http://schemas.microsoft.com/office/drawing/2014/main" id="{5F79772F-D485-41AC-B2B3-6B7E9109A99C}"/>
              </a:ext>
            </a:extLst>
          </p:cNvPr>
          <p:cNvSpPr/>
          <p:nvPr/>
        </p:nvSpPr>
        <p:spPr>
          <a:xfrm>
            <a:off x="9810750" y="2114550"/>
            <a:ext cx="2095500" cy="612648"/>
          </a:xfrm>
          <a:prstGeom prst="wedgeRectCallout">
            <a:avLst>
              <a:gd name="adj1" fmla="val -53693"/>
              <a:gd name="adj2" fmla="val -9452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Datetime</a:t>
            </a:r>
            <a:r>
              <a:rPr kumimoji="1" lang="ja-JP" altLang="en-US" dirty="0"/>
              <a:t>にする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(</a:t>
            </a:r>
            <a:r>
              <a:rPr kumimoji="1" lang="en-US" altLang="ja-JP" dirty="0" err="1"/>
              <a:t>Original:Time</a:t>
            </a:r>
            <a:r>
              <a:rPr kumimoji="1" lang="en-US" altLang="ja-JP" dirty="0"/>
              <a:t>)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296BC692-6501-442B-A0C7-13471C7672DC}"/>
              </a:ext>
            </a:extLst>
          </p:cNvPr>
          <p:cNvSpPr/>
          <p:nvPr/>
        </p:nvSpPr>
        <p:spPr>
          <a:xfrm>
            <a:off x="6838950" y="1447338"/>
            <a:ext cx="2855292" cy="4332959"/>
          </a:xfrm>
          <a:prstGeom prst="roundRect">
            <a:avLst>
              <a:gd name="adj" fmla="val 3657"/>
            </a:avLst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8858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11111D4-6876-40F5-9206-3D0FE62B1E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5457"/>
          <a:stretch/>
        </p:blipFill>
        <p:spPr>
          <a:xfrm>
            <a:off x="310629" y="0"/>
            <a:ext cx="6975074" cy="68580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33A7820-A007-4A8D-9DEA-240CFB8A1C2F}"/>
              </a:ext>
            </a:extLst>
          </p:cNvPr>
          <p:cNvSpPr/>
          <p:nvPr/>
        </p:nvSpPr>
        <p:spPr>
          <a:xfrm>
            <a:off x="581249" y="1227777"/>
            <a:ext cx="6458648" cy="56302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D84E0DD-600D-40B7-BF7F-F08AF7FCB194}"/>
              </a:ext>
            </a:extLst>
          </p:cNvPr>
          <p:cNvSpPr txBox="1"/>
          <p:nvPr/>
        </p:nvSpPr>
        <p:spPr>
          <a:xfrm>
            <a:off x="7556323" y="304447"/>
            <a:ext cx="38779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このテーブルをデータ化したい</a:t>
            </a:r>
            <a:endParaRPr kumimoji="1" lang="en-US" altLang="ja-JP" dirty="0"/>
          </a:p>
          <a:p>
            <a:r>
              <a:rPr kumimoji="1" lang="ja-JP" altLang="en-US" dirty="0"/>
              <a:t>リュウさんのやり方では「備考」が</a:t>
            </a:r>
            <a:endParaRPr kumimoji="1" lang="en-US" altLang="ja-JP" dirty="0"/>
          </a:p>
          <a:p>
            <a:r>
              <a:rPr kumimoji="1" lang="ja-JP" altLang="en-US" dirty="0"/>
              <a:t>複数行あるとうまく設定できない</a:t>
            </a:r>
          </a:p>
        </p:txBody>
      </p:sp>
    </p:spTree>
    <p:extLst>
      <p:ext uri="{BB962C8B-B14F-4D97-AF65-F5344CB8AC3E}">
        <p14:creationId xmlns:p14="http://schemas.microsoft.com/office/powerpoint/2010/main" val="3939921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14F356-9B8E-417C-916E-6F70090C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CSV</a:t>
            </a:r>
            <a:r>
              <a:rPr kumimoji="1" lang="ja-JP" altLang="en-US" dirty="0"/>
              <a:t>イメージ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28C7A34-057E-49AF-9D50-3F70A4B5F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748870"/>
              </p:ext>
            </p:extLst>
          </p:nvPr>
        </p:nvGraphicFramePr>
        <p:xfrm>
          <a:off x="731174" y="1644840"/>
          <a:ext cx="10729652" cy="3568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27663">
                  <a:extLst>
                    <a:ext uri="{9D8B030D-6E8A-4147-A177-3AD203B41FA5}">
                      <a16:colId xmlns:a16="http://schemas.microsoft.com/office/drawing/2014/main" val="1459389517"/>
                    </a:ext>
                  </a:extLst>
                </a:gridCol>
                <a:gridCol w="864163">
                  <a:extLst>
                    <a:ext uri="{9D8B030D-6E8A-4147-A177-3AD203B41FA5}">
                      <a16:colId xmlns:a16="http://schemas.microsoft.com/office/drawing/2014/main" val="2687383997"/>
                    </a:ext>
                  </a:extLst>
                </a:gridCol>
                <a:gridCol w="429188">
                  <a:extLst>
                    <a:ext uri="{9D8B030D-6E8A-4147-A177-3AD203B41FA5}">
                      <a16:colId xmlns:a16="http://schemas.microsoft.com/office/drawing/2014/main" val="920544660"/>
                    </a:ext>
                  </a:extLst>
                </a:gridCol>
                <a:gridCol w="1294375">
                  <a:extLst>
                    <a:ext uri="{9D8B030D-6E8A-4147-A177-3AD203B41FA5}">
                      <a16:colId xmlns:a16="http://schemas.microsoft.com/office/drawing/2014/main" val="1600458339"/>
                    </a:ext>
                  </a:extLst>
                </a:gridCol>
                <a:gridCol w="429188">
                  <a:extLst>
                    <a:ext uri="{9D8B030D-6E8A-4147-A177-3AD203B41FA5}">
                      <a16:colId xmlns:a16="http://schemas.microsoft.com/office/drawing/2014/main" val="1824175476"/>
                    </a:ext>
                  </a:extLst>
                </a:gridCol>
                <a:gridCol w="1475350">
                  <a:extLst>
                    <a:ext uri="{9D8B030D-6E8A-4147-A177-3AD203B41FA5}">
                      <a16:colId xmlns:a16="http://schemas.microsoft.com/office/drawing/2014/main" val="353918642"/>
                    </a:ext>
                  </a:extLst>
                </a:gridCol>
                <a:gridCol w="1475350">
                  <a:extLst>
                    <a:ext uri="{9D8B030D-6E8A-4147-A177-3AD203B41FA5}">
                      <a16:colId xmlns:a16="http://schemas.microsoft.com/office/drawing/2014/main" val="845318661"/>
                    </a:ext>
                  </a:extLst>
                </a:gridCol>
                <a:gridCol w="3834375">
                  <a:extLst>
                    <a:ext uri="{9D8B030D-6E8A-4147-A177-3AD203B41FA5}">
                      <a16:colId xmlns:a16="http://schemas.microsoft.com/office/drawing/2014/main" val="3973263799"/>
                    </a:ext>
                  </a:extLst>
                </a:gridCol>
              </a:tblGrid>
              <a:tr h="235636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作業日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設備ユニット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昼夜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実績コード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人員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開始時刻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終了時刻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備考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351706"/>
                  </a:ext>
                </a:extLst>
              </a:tr>
              <a:tr h="23563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夜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31:</a:t>
                      </a:r>
                      <a:r>
                        <a:rPr lang="zh-TW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清掃給油点検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19:22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19:30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ポカヨケ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744213670"/>
                  </a:ext>
                </a:extLst>
              </a:tr>
              <a:tr h="23563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夜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50:</a:t>
                      </a:r>
                      <a:r>
                        <a:rPr lang="zh-TW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突発設備故障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20:30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20:31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ポカヨケ失敗　ペイント黒、紫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1NG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汚れ有り清掃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OK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274631095"/>
                  </a:ext>
                </a:extLst>
              </a:tr>
              <a:tr h="23563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夜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50:</a:t>
                      </a:r>
                      <a:r>
                        <a:rPr lang="zh-TW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突発設備故障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21:15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21:17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10.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カラミ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AR164 W118⑧ 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落ち込み気味修正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サイ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OK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140152832"/>
                  </a:ext>
                </a:extLst>
              </a:tr>
              <a:tr h="23563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夜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50:</a:t>
                      </a:r>
                      <a:r>
                        <a:rPr lang="zh-TW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突発設備故障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21:58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22:00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8.CTO AR164 PF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ガイド部継ぎ目ブーツ引っ掛かり　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526544834"/>
                  </a:ext>
                </a:extLst>
              </a:tr>
              <a:tr h="23563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夜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50:</a:t>
                      </a:r>
                      <a:r>
                        <a:rPr lang="zh-TW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突発設備故障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22:08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22:10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 CTO 164 118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ガイド部ブーツ引っ掛かり　石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499990126"/>
                  </a:ext>
                </a:extLst>
              </a:tr>
              <a:tr h="23563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夜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50:</a:t>
                      </a:r>
                      <a:r>
                        <a:rPr lang="zh-TW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突発設備故障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23:02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23:08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10.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カラミ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AR164 W118④ 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メクレ修正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サイ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OK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900884085"/>
                  </a:ext>
                </a:extLst>
              </a:tr>
              <a:tr h="23563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夜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50:</a:t>
                      </a:r>
                      <a:r>
                        <a:rPr lang="zh-TW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突発設備故障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23:11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23:14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10.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カラミ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AR164 W11812.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メクレ修正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サイ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OK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601178356"/>
                  </a:ext>
                </a:extLst>
              </a:tr>
              <a:tr h="23563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夜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50:</a:t>
                      </a:r>
                      <a:r>
                        <a:rPr lang="zh-TW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突発設備故障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23:55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23:57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10.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カラミ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AR164 W118④ 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落ち込み気味修正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サイ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OK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882324621"/>
                  </a:ext>
                </a:extLst>
              </a:tr>
              <a:tr h="23563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夜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50:</a:t>
                      </a:r>
                      <a:r>
                        <a:rPr lang="zh-TW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突発設備故障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2025/10/2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1:25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2025/10/2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1:26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カラミ 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164 1187 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落ち込み気味修正　石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961432706"/>
                  </a:ext>
                </a:extLst>
              </a:tr>
              <a:tr h="23563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夜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50:</a:t>
                      </a:r>
                      <a:r>
                        <a:rPr lang="zh-TW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突発設備故障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2025/10/2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1:29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2025/10/2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1:31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8.CTO AR164 PF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ガイド部継ぎ目ブーツ引っ掛かり　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586472470"/>
                  </a:ext>
                </a:extLst>
              </a:tr>
              <a:tr h="23563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夜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50:</a:t>
                      </a:r>
                      <a:r>
                        <a:rPr lang="zh-TW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突発設備故障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2025/10/2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1:32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2025/10/2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1:34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ロボット異常取出しミス　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488023195"/>
                  </a:ext>
                </a:extLst>
              </a:tr>
              <a:tr h="23563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夜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50:</a:t>
                      </a:r>
                      <a:r>
                        <a:rPr lang="zh-TW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突発設備故障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2025/10/2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1:56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2025/10/2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1:58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10.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カラミ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AR164 W118⑥ 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落ち込み気味修正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サイ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OK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867850505"/>
                  </a:ext>
                </a:extLst>
              </a:tr>
              <a:tr h="23563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夜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50:</a:t>
                      </a:r>
                      <a:r>
                        <a:rPr lang="zh-TW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突発設備故障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2025/10/2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2:38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2025/10/2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2:39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カラミ 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164 1184 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落ち込み気味修正　キャリパー清掃　石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86238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7252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14F356-9B8E-417C-916E-6F70090C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CSV</a:t>
            </a:r>
            <a:r>
              <a:rPr kumimoji="1" lang="ja-JP" altLang="en-US" dirty="0"/>
              <a:t>イメージ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28C7A34-057E-49AF-9D50-3F70A4B5F9A3}"/>
              </a:ext>
            </a:extLst>
          </p:cNvPr>
          <p:cNvGraphicFramePr>
            <a:graphicFrameLocks noGrp="1"/>
          </p:cNvGraphicFramePr>
          <p:nvPr/>
        </p:nvGraphicFramePr>
        <p:xfrm>
          <a:off x="731174" y="1644840"/>
          <a:ext cx="10729652" cy="3568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27663">
                  <a:extLst>
                    <a:ext uri="{9D8B030D-6E8A-4147-A177-3AD203B41FA5}">
                      <a16:colId xmlns:a16="http://schemas.microsoft.com/office/drawing/2014/main" val="1459389517"/>
                    </a:ext>
                  </a:extLst>
                </a:gridCol>
                <a:gridCol w="864163">
                  <a:extLst>
                    <a:ext uri="{9D8B030D-6E8A-4147-A177-3AD203B41FA5}">
                      <a16:colId xmlns:a16="http://schemas.microsoft.com/office/drawing/2014/main" val="2687383997"/>
                    </a:ext>
                  </a:extLst>
                </a:gridCol>
                <a:gridCol w="429188">
                  <a:extLst>
                    <a:ext uri="{9D8B030D-6E8A-4147-A177-3AD203B41FA5}">
                      <a16:colId xmlns:a16="http://schemas.microsoft.com/office/drawing/2014/main" val="920544660"/>
                    </a:ext>
                  </a:extLst>
                </a:gridCol>
                <a:gridCol w="1294375">
                  <a:extLst>
                    <a:ext uri="{9D8B030D-6E8A-4147-A177-3AD203B41FA5}">
                      <a16:colId xmlns:a16="http://schemas.microsoft.com/office/drawing/2014/main" val="1600458339"/>
                    </a:ext>
                  </a:extLst>
                </a:gridCol>
                <a:gridCol w="429188">
                  <a:extLst>
                    <a:ext uri="{9D8B030D-6E8A-4147-A177-3AD203B41FA5}">
                      <a16:colId xmlns:a16="http://schemas.microsoft.com/office/drawing/2014/main" val="1824175476"/>
                    </a:ext>
                  </a:extLst>
                </a:gridCol>
                <a:gridCol w="1475350">
                  <a:extLst>
                    <a:ext uri="{9D8B030D-6E8A-4147-A177-3AD203B41FA5}">
                      <a16:colId xmlns:a16="http://schemas.microsoft.com/office/drawing/2014/main" val="353918642"/>
                    </a:ext>
                  </a:extLst>
                </a:gridCol>
                <a:gridCol w="1475350">
                  <a:extLst>
                    <a:ext uri="{9D8B030D-6E8A-4147-A177-3AD203B41FA5}">
                      <a16:colId xmlns:a16="http://schemas.microsoft.com/office/drawing/2014/main" val="845318661"/>
                    </a:ext>
                  </a:extLst>
                </a:gridCol>
                <a:gridCol w="3834375">
                  <a:extLst>
                    <a:ext uri="{9D8B030D-6E8A-4147-A177-3AD203B41FA5}">
                      <a16:colId xmlns:a16="http://schemas.microsoft.com/office/drawing/2014/main" val="3973263799"/>
                    </a:ext>
                  </a:extLst>
                </a:gridCol>
              </a:tblGrid>
              <a:tr h="235636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作業日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設備ユニット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昼夜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実績コード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人員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開始時刻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終了時刻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備考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351706"/>
                  </a:ext>
                </a:extLst>
              </a:tr>
              <a:tr h="23563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夜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31:</a:t>
                      </a:r>
                      <a:r>
                        <a:rPr lang="zh-TW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清掃給油点検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19:22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19:30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ポカヨケ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744213670"/>
                  </a:ext>
                </a:extLst>
              </a:tr>
              <a:tr h="23563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夜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50:</a:t>
                      </a:r>
                      <a:r>
                        <a:rPr lang="zh-TW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突発設備故障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20:30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20:31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ポカヨケ失敗　ペイント黒、紫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1NG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汚れ有り清掃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OK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274631095"/>
                  </a:ext>
                </a:extLst>
              </a:tr>
              <a:tr h="23563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夜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50:</a:t>
                      </a:r>
                      <a:r>
                        <a:rPr lang="zh-TW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突発設備故障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21:15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21:17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10.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カラミ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AR164 W118⑧ 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落ち込み気味修正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サイ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OK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140152832"/>
                  </a:ext>
                </a:extLst>
              </a:tr>
              <a:tr h="23563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夜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50:</a:t>
                      </a:r>
                      <a:r>
                        <a:rPr lang="zh-TW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突発設備故障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21:58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22:00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8.CTO AR164 PF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ガイド部継ぎ目ブーツ引っ掛かり　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526544834"/>
                  </a:ext>
                </a:extLst>
              </a:tr>
              <a:tr h="23563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夜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50:</a:t>
                      </a:r>
                      <a:r>
                        <a:rPr lang="zh-TW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突発設備故障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22:08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22:10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 CTO 164 118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ガイド部ブーツ引っ掛かり　石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499990126"/>
                  </a:ext>
                </a:extLst>
              </a:tr>
              <a:tr h="23563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夜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50:</a:t>
                      </a:r>
                      <a:r>
                        <a:rPr lang="zh-TW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突発設備故障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23:02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23:08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10.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カラミ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AR164 W118④ 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メクレ修正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サイ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OK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900884085"/>
                  </a:ext>
                </a:extLst>
              </a:tr>
              <a:tr h="23563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夜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50:</a:t>
                      </a:r>
                      <a:r>
                        <a:rPr lang="zh-TW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突発設備故障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23:11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23:14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10.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カラミ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AR164 W11812.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メクレ修正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サイ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OK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601178356"/>
                  </a:ext>
                </a:extLst>
              </a:tr>
              <a:tr h="23563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夜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50:</a:t>
                      </a:r>
                      <a:r>
                        <a:rPr lang="zh-TW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突発設備故障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23:55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23:57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10.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カラミ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AR164 W118④ 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落ち込み気味修正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サイ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OK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882324621"/>
                  </a:ext>
                </a:extLst>
              </a:tr>
              <a:tr h="23563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夜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50:</a:t>
                      </a:r>
                      <a:r>
                        <a:rPr lang="zh-TW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突発設備故障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2025/10/2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1:25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2025/10/2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1:26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カラミ 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164 1187 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落ち込み気味修正　石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961432706"/>
                  </a:ext>
                </a:extLst>
              </a:tr>
              <a:tr h="23563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夜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50:</a:t>
                      </a:r>
                      <a:r>
                        <a:rPr lang="zh-TW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突発設備故障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2025/10/2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1:29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2025/10/2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1:31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8.CTO AR164 PF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ガイド部継ぎ目ブーツ引っ掛かり　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586472470"/>
                  </a:ext>
                </a:extLst>
              </a:tr>
              <a:tr h="23563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夜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50:</a:t>
                      </a:r>
                      <a:r>
                        <a:rPr lang="zh-TW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突発設備故障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2025/10/2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1:32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2025/10/2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1:34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ロボット異常取出しミス　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488023195"/>
                  </a:ext>
                </a:extLst>
              </a:tr>
              <a:tr h="23563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夜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50:</a:t>
                      </a:r>
                      <a:r>
                        <a:rPr lang="zh-TW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突発設備故障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2025/10/2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1:56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2025/10/2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1:58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10.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カラミ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AR164 W118⑥ 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落ち込み気味修正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サイ</a:t>
                      </a:r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OK</a:t>
                      </a:r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島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867850505"/>
                  </a:ext>
                </a:extLst>
              </a:tr>
              <a:tr h="23563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2025/10/1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10-1615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夜</a:t>
                      </a:r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50:</a:t>
                      </a:r>
                      <a:r>
                        <a:rPr lang="zh-TW" altLang="en-US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突発設備故障</a:t>
                      </a:r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  <a:endParaRPr lang="en-US" altLang="ja-JP" sz="12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2025/10/2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2:38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2025/10/2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2:39</a:t>
                      </a:r>
                      <a:endParaRPr lang="en-US" altLang="ja-JP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カラミ </a:t>
                      </a:r>
                      <a:r>
                        <a:rPr lang="en-US" altLang="ja-JP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164 1184 </a:t>
                      </a:r>
                      <a:r>
                        <a:rPr lang="ja-JP" altLang="en-US" sz="1200" u="none" strike="noStrike" dirty="0"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落ち込み気味修正　キャリパー清掃　石</a:t>
                      </a:r>
                      <a:endParaRPr lang="ja-JP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86238177"/>
                  </a:ext>
                </a:extLst>
              </a:tr>
            </a:tbl>
          </a:graphicData>
        </a:graphic>
      </p:graphicFrame>
      <p:sp>
        <p:nvSpPr>
          <p:cNvPr id="7" name="左中かっこ 6">
            <a:extLst>
              <a:ext uri="{FF2B5EF4-FFF2-40B4-BE49-F238E27FC236}">
                <a16:creationId xmlns:a16="http://schemas.microsoft.com/office/drawing/2014/main" id="{1164E093-9576-4C14-A906-3D469971A67F}"/>
              </a:ext>
            </a:extLst>
          </p:cNvPr>
          <p:cNvSpPr/>
          <p:nvPr/>
        </p:nvSpPr>
        <p:spPr>
          <a:xfrm rot="16200000">
            <a:off x="1719880" y="4265398"/>
            <a:ext cx="225071" cy="220248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左中かっこ 7">
            <a:extLst>
              <a:ext uri="{FF2B5EF4-FFF2-40B4-BE49-F238E27FC236}">
                <a16:creationId xmlns:a16="http://schemas.microsoft.com/office/drawing/2014/main" id="{B35D5E78-4257-40DD-944D-32AF39922B4B}"/>
              </a:ext>
            </a:extLst>
          </p:cNvPr>
          <p:cNvSpPr/>
          <p:nvPr/>
        </p:nvSpPr>
        <p:spPr>
          <a:xfrm rot="16200000">
            <a:off x="7114096" y="1132442"/>
            <a:ext cx="225071" cy="8468387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5663C7D-AA36-4A07-87CA-BEFE06E7DDBD}"/>
              </a:ext>
            </a:extLst>
          </p:cNvPr>
          <p:cNvSpPr txBox="1"/>
          <p:nvPr/>
        </p:nvSpPr>
        <p:spPr>
          <a:xfrm>
            <a:off x="1026745" y="5479172"/>
            <a:ext cx="1611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File name</a:t>
            </a:r>
            <a:r>
              <a:rPr kumimoji="1" lang="ja-JP" altLang="en-US" dirty="0"/>
              <a:t> から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9792E39-BFFD-4B34-A098-4DAA3EF8B7CB}"/>
              </a:ext>
            </a:extLst>
          </p:cNvPr>
          <p:cNvSpPr txBox="1"/>
          <p:nvPr/>
        </p:nvSpPr>
        <p:spPr>
          <a:xfrm>
            <a:off x="6456388" y="5479172"/>
            <a:ext cx="1540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Contents</a:t>
            </a:r>
            <a:r>
              <a:rPr kumimoji="1" lang="ja-JP" altLang="en-US" dirty="0"/>
              <a:t> から</a:t>
            </a:r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A07D2E40-A082-4682-B155-0D94D172C814}"/>
              </a:ext>
            </a:extLst>
          </p:cNvPr>
          <p:cNvSpPr/>
          <p:nvPr/>
        </p:nvSpPr>
        <p:spPr>
          <a:xfrm>
            <a:off x="2933654" y="5525243"/>
            <a:ext cx="3147592" cy="923330"/>
          </a:xfrm>
          <a:prstGeom prst="wedgeRectCallout">
            <a:avLst>
              <a:gd name="adj1" fmla="val 42853"/>
              <a:gd name="adj2" fmla="val -8063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kumimoji="1" lang="en-US" altLang="ja-JP" dirty="0"/>
              <a:t>Datetime</a:t>
            </a:r>
            <a:r>
              <a:rPr kumimoji="1" lang="ja-JP" altLang="en-US" dirty="0"/>
              <a:t>にする</a:t>
            </a:r>
            <a:r>
              <a:rPr kumimoji="1" lang="en-US" altLang="ja-JP" dirty="0"/>
              <a:t>(</a:t>
            </a:r>
            <a:r>
              <a:rPr kumimoji="1" lang="en-US" altLang="ja-JP" dirty="0" err="1"/>
              <a:t>Original:Time</a:t>
            </a:r>
            <a:r>
              <a:rPr kumimoji="1" lang="en-US" altLang="ja-JP" dirty="0"/>
              <a:t>)</a:t>
            </a:r>
          </a:p>
          <a:p>
            <a:pPr algn="ctr"/>
            <a:r>
              <a:rPr kumimoji="1" lang="en-US" altLang="ja-JP" dirty="0"/>
              <a:t>&amp;</a:t>
            </a:r>
          </a:p>
          <a:p>
            <a:pPr algn="ctr"/>
            <a:r>
              <a:rPr kumimoji="1" lang="en-US" altLang="ja-JP" dirty="0"/>
              <a:t>24:00</a:t>
            </a:r>
            <a:r>
              <a:rPr kumimoji="1" lang="ja-JP" altLang="en-US" dirty="0"/>
              <a:t>～は </a:t>
            </a:r>
            <a:r>
              <a:rPr kumimoji="1" lang="en-US" altLang="ja-JP" dirty="0"/>
              <a:t>+1DAY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7C5558A-FEF7-4375-9349-3FDB1F1C1DEA}"/>
              </a:ext>
            </a:extLst>
          </p:cNvPr>
          <p:cNvSpPr/>
          <p:nvPr/>
        </p:nvSpPr>
        <p:spPr>
          <a:xfrm>
            <a:off x="4676776" y="1644841"/>
            <a:ext cx="2952750" cy="3568320"/>
          </a:xfrm>
          <a:prstGeom prst="roundRect">
            <a:avLst>
              <a:gd name="adj" fmla="val 3657"/>
            </a:avLst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0847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9C5E1A-5ADD-4027-B094-E839A0B25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タスク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5A0100-C0E9-4E37-9BD9-317DB7A95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/>
              <a:t>＜開発＞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>
                <a:solidFill>
                  <a:schemeClr val="bg1">
                    <a:lumMod val="65000"/>
                  </a:schemeClr>
                </a:solidFill>
              </a:rPr>
              <a:t>　・日報ログイン</a:t>
            </a:r>
            <a:r>
              <a:rPr lang="en-US" altLang="ja-JP" dirty="0">
                <a:solidFill>
                  <a:schemeClr val="bg1">
                    <a:lumMod val="65000"/>
                  </a:schemeClr>
                </a:solidFill>
              </a:rPr>
              <a:t>/DL[PDF]:</a:t>
            </a:r>
            <a:r>
              <a:rPr kumimoji="1" lang="en-US" altLang="ja-JP" dirty="0">
                <a:solidFill>
                  <a:schemeClr val="bg1">
                    <a:lumMod val="65000"/>
                  </a:schemeClr>
                </a:solidFill>
              </a:rPr>
              <a:t>Automate</a:t>
            </a:r>
            <a:r>
              <a:rPr lang="en-US" altLang="ja-JP" dirty="0">
                <a:solidFill>
                  <a:schemeClr val="bg1">
                    <a:lumMod val="65000"/>
                  </a:schemeClr>
                </a:solidFill>
              </a:rPr>
              <a:t>(Daily)</a:t>
            </a:r>
          </a:p>
          <a:p>
            <a:pPr marL="0" indent="0">
              <a:buNone/>
            </a:pPr>
            <a:r>
              <a:rPr lang="ja-JP" altLang="en-US" dirty="0"/>
              <a:t>　・</a:t>
            </a:r>
            <a:r>
              <a:rPr lang="en-US" altLang="ja-JP" dirty="0"/>
              <a:t>PDF</a:t>
            </a:r>
            <a:r>
              <a:rPr lang="ja-JP" altLang="en-US" dirty="0"/>
              <a:t>→</a:t>
            </a:r>
            <a:r>
              <a:rPr kumimoji="1" lang="en-US" altLang="ja-JP" dirty="0"/>
              <a:t>CSV</a:t>
            </a:r>
            <a:r>
              <a:rPr kumimoji="1" lang="ja-JP" altLang="en-US" dirty="0"/>
              <a:t>変換</a:t>
            </a:r>
            <a:r>
              <a:rPr kumimoji="1" lang="en-US" altLang="ja-JP" dirty="0"/>
              <a:t>:Manual</a:t>
            </a:r>
          </a:p>
          <a:p>
            <a:pPr marL="0" indent="0">
              <a:buNone/>
            </a:pPr>
            <a:r>
              <a:rPr kumimoji="1" lang="ja-JP" altLang="en-US" dirty="0"/>
              <a:t>　・</a:t>
            </a:r>
            <a:r>
              <a:rPr lang="en-US" altLang="ja-JP" dirty="0"/>
              <a:t>PDF</a:t>
            </a:r>
            <a:r>
              <a:rPr lang="ja-JP" altLang="en-US" dirty="0"/>
              <a:t>→</a:t>
            </a:r>
            <a:r>
              <a:rPr kumimoji="1" lang="en-US" altLang="ja-JP" dirty="0"/>
              <a:t>CSV</a:t>
            </a:r>
            <a:r>
              <a:rPr kumimoji="1" lang="ja-JP" altLang="en-US" dirty="0"/>
              <a:t>変換</a:t>
            </a:r>
            <a:r>
              <a:rPr kumimoji="1" lang="en-US" altLang="ja-JP" dirty="0"/>
              <a:t>:Automate</a:t>
            </a:r>
            <a:r>
              <a:rPr lang="en-US" altLang="ja-JP" dirty="0"/>
              <a:t>(Daily)</a:t>
            </a:r>
          </a:p>
          <a:p>
            <a:pPr marL="0" indent="0">
              <a:buNone/>
            </a:pPr>
            <a:r>
              <a:rPr kumimoji="1" lang="ja-JP" altLang="en-US" dirty="0">
                <a:solidFill>
                  <a:schemeClr val="bg1">
                    <a:lumMod val="65000"/>
                  </a:schemeClr>
                </a:solidFill>
              </a:rPr>
              <a:t>　・</a:t>
            </a:r>
            <a:r>
              <a:rPr kumimoji="1" lang="en-US" altLang="ja-JP" dirty="0">
                <a:solidFill>
                  <a:schemeClr val="bg1">
                    <a:lumMod val="65000"/>
                  </a:schemeClr>
                </a:solidFill>
              </a:rPr>
              <a:t>CSV</a:t>
            </a:r>
            <a:r>
              <a:rPr kumimoji="1" lang="ja-JP" altLang="en-US" dirty="0">
                <a:solidFill>
                  <a:schemeClr val="bg1">
                    <a:lumMod val="65000"/>
                  </a:schemeClr>
                </a:solidFill>
              </a:rPr>
              <a:t>→</a:t>
            </a:r>
            <a:r>
              <a:rPr kumimoji="1" lang="en-US" altLang="ja-JP" dirty="0">
                <a:solidFill>
                  <a:schemeClr val="bg1">
                    <a:lumMod val="65000"/>
                  </a:schemeClr>
                </a:solidFill>
              </a:rPr>
              <a:t>DB</a:t>
            </a:r>
            <a:r>
              <a:rPr kumimoji="1" lang="ja-JP" altLang="en-US" dirty="0">
                <a:solidFill>
                  <a:schemeClr val="bg1">
                    <a:lumMod val="65000"/>
                  </a:schemeClr>
                </a:solidFill>
              </a:rPr>
              <a:t>インサート</a:t>
            </a:r>
            <a:r>
              <a:rPr kumimoji="1" lang="en-US" altLang="ja-JP" dirty="0">
                <a:solidFill>
                  <a:schemeClr val="bg1">
                    <a:lumMod val="65000"/>
                  </a:schemeClr>
                </a:solidFill>
              </a:rPr>
              <a:t>:Automate</a:t>
            </a:r>
            <a:r>
              <a:rPr lang="en-US" altLang="ja-JP" dirty="0">
                <a:solidFill>
                  <a:schemeClr val="bg1">
                    <a:lumMod val="65000"/>
                  </a:schemeClr>
                </a:solidFill>
              </a:rPr>
              <a:t>(Daily)</a:t>
            </a:r>
          </a:p>
          <a:p>
            <a:pPr marL="0" indent="0">
              <a:buNone/>
            </a:pPr>
            <a:r>
              <a:rPr kumimoji="1" lang="ja-JP" altLang="en-US" dirty="0">
                <a:solidFill>
                  <a:schemeClr val="bg1">
                    <a:lumMod val="65000"/>
                  </a:schemeClr>
                </a:solidFill>
              </a:rPr>
              <a:t>＜製作＞</a:t>
            </a:r>
            <a:endParaRPr kumimoji="1" lang="en-US" altLang="ja-JP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r>
              <a:rPr kumimoji="1" lang="ja-JP" altLang="en-US" dirty="0">
                <a:solidFill>
                  <a:schemeClr val="bg1">
                    <a:lumMod val="65000"/>
                  </a:schemeClr>
                </a:solidFill>
              </a:rPr>
              <a:t>　・</a:t>
            </a:r>
            <a:r>
              <a:rPr kumimoji="1" lang="en-US" altLang="ja-JP" dirty="0">
                <a:solidFill>
                  <a:schemeClr val="bg1">
                    <a:lumMod val="65000"/>
                  </a:schemeClr>
                </a:solidFill>
              </a:rPr>
              <a:t>MB</a:t>
            </a:r>
            <a:r>
              <a:rPr lang="ja-JP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ja-JP" dirty="0">
                <a:solidFill>
                  <a:schemeClr val="bg1">
                    <a:lumMod val="65000"/>
                  </a:schemeClr>
                </a:solidFill>
              </a:rPr>
              <a:t>Design</a:t>
            </a:r>
          </a:p>
          <a:p>
            <a:pPr marL="0" indent="0">
              <a:buNone/>
            </a:pPr>
            <a:r>
              <a:rPr lang="ja-JP" altLang="en-US" dirty="0">
                <a:solidFill>
                  <a:schemeClr val="bg1">
                    <a:lumMod val="65000"/>
                  </a:schemeClr>
                </a:solidFill>
              </a:rPr>
              <a:t>　・</a:t>
            </a:r>
            <a:r>
              <a:rPr lang="en-US" altLang="ja-JP" dirty="0">
                <a:solidFill>
                  <a:schemeClr val="bg1">
                    <a:lumMod val="65000"/>
                  </a:schemeClr>
                </a:solidFill>
              </a:rPr>
              <a:t>DB Design</a:t>
            </a:r>
            <a:endParaRPr kumimoji="1" lang="en-US" altLang="ja-JP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69BA1B8-5BD5-4EB2-B2A7-24BC74D6C3B7}"/>
              </a:ext>
            </a:extLst>
          </p:cNvPr>
          <p:cNvSpPr txBox="1"/>
          <p:nvPr/>
        </p:nvSpPr>
        <p:spPr>
          <a:xfrm>
            <a:off x="7658100" y="3170297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latin typeface="+mn-ea"/>
              </a:rPr>
              <a:t>←まずはこの部分について</a:t>
            </a:r>
            <a:endParaRPr kumimoji="1" lang="en-US" altLang="ja-JP" sz="2400" dirty="0">
              <a:latin typeface="+mn-ea"/>
            </a:endParaRPr>
          </a:p>
          <a:p>
            <a:r>
              <a:rPr kumimoji="1" lang="ja-JP" altLang="en-US" sz="2400" dirty="0">
                <a:latin typeface="+mn-ea"/>
              </a:rPr>
              <a:t>　協力をお願いします</a:t>
            </a:r>
            <a:endParaRPr kumimoji="1" lang="en-US" altLang="ja-JP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21374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309</TotalTime>
  <Words>1190</Words>
  <Application>Microsoft Office PowerPoint</Application>
  <PresentationFormat>ワイド画面</PresentationFormat>
  <Paragraphs>502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5" baseType="lpstr">
      <vt:lpstr>Meiryo UI</vt:lpstr>
      <vt:lpstr>游ゴシック</vt:lpstr>
      <vt:lpstr>Arial</vt:lpstr>
      <vt:lpstr>Calibri</vt:lpstr>
      <vt:lpstr>Calibri Light</vt:lpstr>
      <vt:lpstr>Office テーマ</vt:lpstr>
      <vt:lpstr>PDF→CSV変換システム 作成協力依頼</vt:lpstr>
      <vt:lpstr>背景</vt:lpstr>
      <vt:lpstr>PowerPoint プレゼンテーション</vt:lpstr>
      <vt:lpstr>CSVイメージ</vt:lpstr>
      <vt:lpstr>CSVイメージ</vt:lpstr>
      <vt:lpstr>PowerPoint プレゼンテーション</vt:lpstr>
      <vt:lpstr>CSVイメージ</vt:lpstr>
      <vt:lpstr>CSVイメージ</vt:lpstr>
      <vt:lpstr>タスク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PDF→CSV変換システム 作成依頼</dc:title>
  <dc:creator>AKITA YASUNARI(秋田　恭成)</dc:creator>
  <cp:lastModifiedBy>AKITA YASUNARI(秋田　恭成)</cp:lastModifiedBy>
  <cp:revision>13</cp:revision>
  <dcterms:created xsi:type="dcterms:W3CDTF">2025-11-20T01:08:00Z</dcterms:created>
  <dcterms:modified xsi:type="dcterms:W3CDTF">2025-11-20T06:17:59Z</dcterms:modified>
</cp:coreProperties>
</file>